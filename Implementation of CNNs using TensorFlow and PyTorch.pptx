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98498-246E-0996-0AD7-8F468AC10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B8EEC-238B-10D8-590F-06C579EE9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48636-6720-76FF-493E-8E5805087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5A70-D5BC-4F63-8E87-143D77A592F6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075D2-B425-9F1E-74F3-5F932F13B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D89D2-4CCD-D722-5AF5-6F9D49D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382B-873D-4EF2-B4FB-84CBE5544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836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2E570-9A44-A4EA-A256-C41900F09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1412C-CC9C-BB2F-0A61-58F986811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FEBAA-BE6E-FD58-A7DA-CB419D4E6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5A70-D5BC-4F63-8E87-143D77A592F6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E7B41-CE1A-43A7-842F-98ECA650C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BC7E-1D07-8220-4F75-91BB95167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382B-873D-4EF2-B4FB-84CBE5544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303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AFE54-2115-1C23-B004-638C2C628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DC306-04B8-695B-2B7E-1CFCAEAB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1EB10-1D8F-E209-A6EB-AFFABC139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5A70-D5BC-4F63-8E87-143D77A592F6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4C0AF-A680-C690-6DBA-87A507CCE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6486-5ED1-90BE-476B-96483645F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382B-873D-4EF2-B4FB-84CBE5544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877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0B34-2EA3-0DB7-B79A-80DD61855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77C41-26FD-04B0-2E3C-00E7DDBA14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1E6CDB-A0B7-0D8C-775A-B18F5E5D5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623F9-4591-BA7D-2A3C-399EFBE9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5A70-D5BC-4F63-8E87-143D77A592F6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A306C-F19C-7BB1-D5F7-D5393AF36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C441B-1C49-E5F2-AA4E-BEFEE7E43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382B-873D-4EF2-B4FB-84CBE5544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768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3868D-82B0-8430-AB85-43C16E18B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60ED0-3940-3D63-9214-4773E2944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21C6B-4CFE-CB45-EF79-04E87C294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4B638C-F53B-E58E-DE4A-BEC974D85E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32620F-AE64-7EB4-7346-F8E7AB0FF9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D67717-6ED7-9311-4133-4972C84D4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5A70-D5BC-4F63-8E87-143D77A592F6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6CE47D-0931-A877-9D9A-04FC0F6EE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5E30D9-0F8C-A81A-6283-D787A19BE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382B-873D-4EF2-B4FB-84CBE5544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435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CAC78-39C4-C936-A0E0-A28DE11AE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82D62F-8C9D-1BBD-8C47-E0E066DED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5A70-D5BC-4F63-8E87-143D77A592F6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E802FD-666A-58D6-49EF-B41A0D387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C06DB6-985E-59B7-B932-EB1F6F37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382B-873D-4EF2-B4FB-84CBE5544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51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AC11E9-A71F-9D4F-B1BC-44FC8A816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5A70-D5BC-4F63-8E87-143D77A592F6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8E749C-209F-8D18-CCD8-06D7632CF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D8B3D-97D2-0505-E08A-9C6E819A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382B-873D-4EF2-B4FB-84CBE5544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064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E371-55CA-D024-BB6A-0A35B0C1B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7391D-2A4C-AE0C-B44B-ED0279A33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D1355-BFEF-03BA-7919-9AE0899E3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28688-93DA-59CD-FD33-9D56FDC0B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5A70-D5BC-4F63-8E87-143D77A592F6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E58EC-3C48-6194-0952-AF7AC4CFF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709B21-2BF6-0AED-1AA9-A62829B5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382B-873D-4EF2-B4FB-84CBE5544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000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0BB15-6E09-4DFC-99DD-4D5E1C5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32D93C-9E7A-8A07-3A3C-D92297E776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2161B-71E5-CDAA-3B7A-BE0535285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9D3F6-A58E-D7AB-0860-D3218FA1B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5A70-D5BC-4F63-8E87-143D77A592F6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222BA-8976-60E8-EBEA-15949FB6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26730-DE1E-BCD9-6447-7C9A7FF9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382B-873D-4EF2-B4FB-84CBE5544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331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6E25-874E-98BA-30B7-DBE3B87D6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F37137-0194-F809-F542-C55728CD2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7F637-78A0-6608-E067-90AEB1971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5A70-D5BC-4F63-8E87-143D77A592F6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4AF5F-44CB-D4E4-E9C6-F3349927E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82555-35AF-7EA1-4946-263B07CDD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382B-873D-4EF2-B4FB-84CBE5544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294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63BD06-C205-93D7-85A6-E3FD9BB29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2691D2-69E2-1940-E9AA-6A294A4506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D2236-F11E-419F-3B46-51E198B86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5A70-D5BC-4F63-8E87-143D77A592F6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F5F01-E068-77CE-5A57-D338194F7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03A6D-7AD7-9333-1E84-CC8CD6AB4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382B-873D-4EF2-B4FB-84CBE5544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849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20FE24-7594-35FE-2E39-B4EEA3CD7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E632B-AFC7-7F7E-E408-691D44273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AD648-FA5B-CF77-A7D7-205EA28FB7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E5A70-D5BC-4F63-8E87-143D77A592F6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A0C75-F5E6-BFD2-214A-7C91E77DB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F5592-09FC-EF9B-5041-463C1FB53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382B-873D-4EF2-B4FB-84CBE55446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466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FDCEB-7F8F-B879-D9B6-F3E6EC1848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Implementation of CNNs using TensorFlow and </a:t>
            </a:r>
            <a:r>
              <a:rPr lang="en-US" dirty="0" err="1"/>
              <a:t>PyTorch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B2BBA-D03C-3D53-DC33-9009E497D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IN" dirty="0"/>
              <a:t>Dr. Meghna Kapoor</a:t>
            </a:r>
          </a:p>
        </p:txBody>
      </p:sp>
    </p:spTree>
    <p:extLst>
      <p:ext uri="{BB962C8B-B14F-4D97-AF65-F5344CB8AC3E}">
        <p14:creationId xmlns:p14="http://schemas.microsoft.com/office/powerpoint/2010/main" val="3755063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10003-08DB-7D4E-4208-26C6FFB91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Motivation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50398-51D5-A5CC-D8CA-0B6C61B2F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convolutional models dominate modern computer vision</a:t>
            </a:r>
          </a:p>
          <a:p>
            <a:r>
              <a:rPr lang="en-US" dirty="0"/>
              <a:t>Role of deep learning libraries in enabling fast prototyping</a:t>
            </a:r>
          </a:p>
          <a:p>
            <a:r>
              <a:rPr lang="en-US" dirty="0"/>
              <a:t>Practical goal for today: build and train a simple CNN in both frameworks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7B40E-146F-881B-20C5-56EA4F76A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295" y="3429000"/>
            <a:ext cx="3959679" cy="314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691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1309F-BE7A-B51A-87D9-D4494AC8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a Convolutional Neural Network?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9519F-81EE-8DDD-AE76-01C3FD599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neural architecture designed for image data</a:t>
            </a:r>
          </a:p>
          <a:p>
            <a:r>
              <a:rPr lang="en-US" dirty="0"/>
              <a:t> Learns spatial patterns using local receptive fields</a:t>
            </a:r>
          </a:p>
          <a:p>
            <a:r>
              <a:rPr lang="en-US" dirty="0"/>
              <a:t> Composed of convolution, activation, pooling and fully connected layers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91697C-39CA-DAFE-2526-D7F9B44C0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875" y="3652733"/>
            <a:ext cx="6572250" cy="265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090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0076B-49C7-E17E-9B1A-B27E1582E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Core CNN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D0049-D326-6CFA-1805-25A42CA00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Convolution</a:t>
            </a:r>
            <a:r>
              <a:rPr lang="en-US" dirty="0"/>
              <a:t>: learnable filters scanning across the image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7EBDA-7E79-7B49-C1F0-6621E1A9E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700" y="2547274"/>
            <a:ext cx="3419475" cy="362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280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67810-0D09-E84F-18C0-A5732EACB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Core CNN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89A51-45A3-6B83-D463-B6B550E25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Stride &amp; Padding</a:t>
            </a:r>
            <a:r>
              <a:rPr lang="en-US" dirty="0"/>
              <a:t>: control spatial resolution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874802-5454-4BD4-8B87-46A03D9D0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950" y="2876550"/>
            <a:ext cx="3105150" cy="30417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172D99-605E-918E-2E41-620FEDD16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452" y="2547938"/>
            <a:ext cx="3762375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226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929EC-C307-FCD4-417E-40A2B88F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Core CNN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5E802-84D2-AC1D-06F5-2A9659711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Pooling</a:t>
            </a:r>
            <a:r>
              <a:rPr lang="en-US" dirty="0"/>
              <a:t>: </a:t>
            </a:r>
            <a:r>
              <a:rPr lang="en-US" dirty="0" err="1"/>
              <a:t>downsampling</a:t>
            </a:r>
            <a:r>
              <a:rPr lang="en-US" dirty="0"/>
              <a:t> to reduce dimension and increase invariance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FB4071-2D31-6975-DE26-D089B424C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969" y="3090746"/>
            <a:ext cx="5834062" cy="289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691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9F83-192B-28A2-111F-A41C081FE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Core CNN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D1B65-6865-B23D-F497-6D371929F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ReLU</a:t>
            </a:r>
            <a:r>
              <a:rPr lang="en-IN" dirty="0"/>
              <a:t>: introduces non-linearity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0B8F26-D2A6-0C2E-5459-41D529370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3038475"/>
            <a:ext cx="4076700" cy="1123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232346-9F78-960F-4054-204C1D20EB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695" y="2203449"/>
            <a:ext cx="5052105" cy="330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433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FE162-52C0-C0E3-F1D9-5E9A292EE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Typical CNN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14939-526C-F98F-E80D-D78189F5E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Conv → ReLU → Pool → Conv → ReLU → Pool → Flatten → Dense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dirty="0"/>
              <a:t>Feature extraction stack</a:t>
            </a:r>
          </a:p>
          <a:p>
            <a:r>
              <a:rPr lang="en-US" dirty="0"/>
              <a:t>Classifier head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747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63CC5-4294-D10F-3F75-FF159FE70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Introduction to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B6E66-A881-A4E2-6D8A-4FC81D2E1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• Industry and research standard</a:t>
            </a:r>
            <a:br>
              <a:rPr lang="en-US" dirty="0"/>
            </a:br>
            <a:r>
              <a:rPr lang="en-US" dirty="0"/>
              <a:t>• GPU acceleration</a:t>
            </a:r>
            <a:br>
              <a:rPr lang="en-US" dirty="0"/>
            </a:br>
            <a:r>
              <a:rPr lang="en-US" dirty="0"/>
              <a:t>• Direct support for CNNs, datasets and training utilities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9397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50AC0-358F-4FE9-2A2E-8387CF4A3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TensorFlow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E5DB1-5FAF-B780-AAA2-FA26DD34E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• Uses eager execution and </a:t>
            </a:r>
            <a:r>
              <a:rPr lang="en-US" dirty="0" err="1"/>
              <a:t>Keras</a:t>
            </a:r>
            <a:r>
              <a:rPr lang="en-US" dirty="0"/>
              <a:t> high-level API</a:t>
            </a:r>
            <a:br>
              <a:rPr lang="en-US" dirty="0"/>
            </a:br>
            <a:r>
              <a:rPr lang="en-US" dirty="0"/>
              <a:t>• Model building via Sequential or subclassed models</a:t>
            </a:r>
            <a:br>
              <a:rPr lang="en-US" dirty="0"/>
            </a:br>
            <a:r>
              <a:rPr lang="en-US" dirty="0"/>
              <a:t>• Strong ecosystem (TF Hub, TF Data, </a:t>
            </a:r>
            <a:r>
              <a:rPr lang="en-US" dirty="0" err="1"/>
              <a:t>TensorBoard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3143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10998-2589-5284-4C9C-6EDB9311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TF Hub (TensorFlow Hub)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2E873-9195-CE48-36FF-C5ED533B2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TensorFlow Hub is a library for </a:t>
            </a:r>
            <a:r>
              <a:rPr lang="en-US" b="1" dirty="0"/>
              <a:t>reusable pretrained models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What it does:</a:t>
            </a:r>
          </a:p>
          <a:p>
            <a:r>
              <a:rPr lang="en-US" dirty="0"/>
              <a:t>Lets you download and use models trained by experts</a:t>
            </a:r>
          </a:p>
          <a:p>
            <a:r>
              <a:rPr lang="en-US" dirty="0"/>
              <a:t>Commonly used for transfer learning</a:t>
            </a:r>
          </a:p>
          <a:p>
            <a:r>
              <a:rPr lang="en-US" dirty="0"/>
              <a:t>Works for text, images, audio, and more</a:t>
            </a:r>
          </a:p>
          <a:p>
            <a:pPr marL="0" indent="0">
              <a:buNone/>
            </a:pPr>
            <a:r>
              <a:rPr lang="en-US" dirty="0"/>
              <a:t>Example use cases:</a:t>
            </a:r>
          </a:p>
          <a:p>
            <a:r>
              <a:rPr lang="en-US" dirty="0"/>
              <a:t>Using a pretrained image feature extractor instead of training from scratch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047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401A7-7794-C973-D419-FAE514598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TF Data (</a:t>
            </a:r>
            <a:r>
              <a:rPr lang="en-IN" dirty="0" err="1"/>
              <a:t>tf.data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6D44B-3573-E9CA-85FA-BBFC9EFB2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TF Data is an API for </a:t>
            </a:r>
            <a:r>
              <a:rPr lang="en-US" b="1" dirty="0"/>
              <a:t>efficient data loading and preprocessing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it does:</a:t>
            </a:r>
          </a:p>
          <a:p>
            <a:r>
              <a:rPr lang="en-US" dirty="0"/>
              <a:t>Handles large datasets that do not fit in memory</a:t>
            </a:r>
          </a:p>
          <a:p>
            <a:r>
              <a:rPr lang="en-US" dirty="0"/>
              <a:t>Builds fast input pipelines</a:t>
            </a:r>
          </a:p>
          <a:p>
            <a:r>
              <a:rPr lang="en-US" dirty="0"/>
              <a:t>Supports batching, shuffling, caching, and parallel loading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6414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AA6DE-203A-6108-A348-7866B11EC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/>
              <a:t>TensorBoard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88DF5-4929-0779-EE88-5A2752B4F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TensorBoard</a:t>
            </a:r>
            <a:r>
              <a:rPr lang="en-US" dirty="0"/>
              <a:t> is a </a:t>
            </a:r>
            <a:r>
              <a:rPr lang="en-US" b="1" dirty="0"/>
              <a:t>visualization and monitoring tool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What it does:</a:t>
            </a:r>
          </a:p>
          <a:p>
            <a:r>
              <a:rPr lang="en-US" dirty="0"/>
              <a:t>Shows training metrics like loss and accuracy</a:t>
            </a:r>
          </a:p>
          <a:p>
            <a:r>
              <a:rPr lang="en-US" dirty="0"/>
              <a:t>Visualizes model graphs</a:t>
            </a:r>
          </a:p>
          <a:p>
            <a:r>
              <a:rPr lang="en-US" dirty="0"/>
              <a:t>Displays histograms of weights and gradients</a:t>
            </a:r>
          </a:p>
          <a:p>
            <a:r>
              <a:rPr lang="en-US" dirty="0"/>
              <a:t>Helps compare multiple training runs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Common things you view:</a:t>
            </a:r>
          </a:p>
          <a:p>
            <a:r>
              <a:rPr lang="en-US" dirty="0"/>
              <a:t>Learning curves</a:t>
            </a:r>
          </a:p>
          <a:p>
            <a:r>
              <a:rPr lang="en-US" dirty="0"/>
              <a:t>Overfitting vs underfitting</a:t>
            </a:r>
          </a:p>
          <a:p>
            <a:r>
              <a:rPr lang="en-US" dirty="0"/>
              <a:t>Model structure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2862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BDADA-236F-BA9E-0E5F-8C6DF95EB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err="1"/>
              <a:t>PyTorch</a:t>
            </a:r>
            <a:r>
              <a:rPr lang="en-IN" dirty="0"/>
              <a:t>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5CA1-F4F9-D113-324D-EADBAD246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• Dynamic computation graph</a:t>
            </a:r>
            <a:br>
              <a:rPr lang="en-US" dirty="0"/>
            </a:br>
            <a:r>
              <a:rPr lang="en-US" dirty="0"/>
              <a:t>• Model building through </a:t>
            </a:r>
            <a:r>
              <a:rPr lang="en-US" dirty="0" err="1"/>
              <a:t>nn.Module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• Widely used in research due to flexibility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8771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1BF60-63E5-DB9A-4F88-AD03BA262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We Will Implement Today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2C27F-1CEA-3CF4-0761-E048EBEE7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• Build a simple CNN in TensorFlow</a:t>
            </a:r>
            <a:br>
              <a:rPr lang="en-US" dirty="0"/>
            </a:br>
            <a:r>
              <a:rPr lang="en-US" dirty="0"/>
              <a:t>• Build a simple CNN in </a:t>
            </a:r>
            <a:r>
              <a:rPr lang="en-US" dirty="0" err="1"/>
              <a:t>PyTorch</a:t>
            </a:r>
            <a:br>
              <a:rPr lang="en-US" dirty="0"/>
            </a:br>
            <a:r>
              <a:rPr lang="en-US" dirty="0"/>
              <a:t>• Train on MNIST dataset</a:t>
            </a:r>
            <a:br>
              <a:rPr lang="en-US" dirty="0"/>
            </a:br>
            <a:r>
              <a:rPr lang="en-US" dirty="0"/>
              <a:t>• Compare accuracy and workflow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7232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2418</TotalTime>
  <Words>401</Words>
  <Application>Microsoft Office PowerPoint</Application>
  <PresentationFormat>Widescreen</PresentationFormat>
  <Paragraphs>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Implementation of CNNs using TensorFlow and PyTorch</vt:lpstr>
      <vt:lpstr>Motivation</vt:lpstr>
      <vt:lpstr>What is a Convolutional Neural Network?</vt:lpstr>
      <vt:lpstr>Core CNN Operations</vt:lpstr>
      <vt:lpstr>Core CNN Operations</vt:lpstr>
      <vt:lpstr>Core CNN Operations</vt:lpstr>
      <vt:lpstr>Core CNN Operations</vt:lpstr>
      <vt:lpstr>Typical CNN Architecture</vt:lpstr>
      <vt:lpstr>Introduction to Frameworks</vt:lpstr>
      <vt:lpstr>TensorFlow Basics</vt:lpstr>
      <vt:lpstr>TF Hub (TensorFlow Hub)</vt:lpstr>
      <vt:lpstr>TF Data (tf.data)</vt:lpstr>
      <vt:lpstr>TensorBoard</vt:lpstr>
      <vt:lpstr>PyTorch Basics</vt:lpstr>
      <vt:lpstr>What We Will Implement Today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K</dc:creator>
  <cp:lastModifiedBy>M K</cp:lastModifiedBy>
  <cp:revision>5</cp:revision>
  <dcterms:created xsi:type="dcterms:W3CDTF">2025-12-10T03:51:56Z</dcterms:created>
  <dcterms:modified xsi:type="dcterms:W3CDTF">2025-12-12T03:49:25Z</dcterms:modified>
</cp:coreProperties>
</file>